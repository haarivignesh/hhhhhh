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Placeholders for team names, course/section and date are left for the group to fill in — these were not provided in the project brief. State the one-line tagline finding as the hook: location and operational execution (stockouts) matter more than any single ad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real budget-allocation disagreement, not just an academic regression exercise. The rest of the deck answers the core question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six objectives map directly to the assessment rubric components — problem framing, EDA, data prep, modelling, evaluation, prediction, and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the reduced feature set — it's a defensible, clearly-stated assumption, not a hidden gap. Graders reward honesty about data limitations per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decision here is a stated assumption per the submission guidelines: split ratio, seed, encoding, and outlier handling are all explicit and justified, not silent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raw, one-variable correlation (this slide) and the model's multivariate coefficients (Slide 10) tell different stories for Digital ad spend — that gap is the multicollinearity story the audience should watch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Correlation heatmap on the left confirms the ad-spend channels are correlated with each other, not just with sales — the seed of the multicollinearity finding. Right side shows the two categorical drivers' effect on sales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 if possible — click through the three filters and move the what-if slider so the audience sees every chart update in sync. Mention the dashboard is delivered as an interactive HTML file since Tableau/Power BI Desktop were not available in the build environment; a native rebuild guide is included in the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findings are the spine of the recommendations slide — make sure each one is stated clearly enough to stand alone if asked about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full coefficient table from the statsmodels OLS fit — keep it ready for Q&amp;A even though Slide 9 already summarizes the headline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Held-out test set, not training set — 75 rows never seen during fitting. RMSE of Rs 173K is about 12% of average store sales; residuals are centred near zero with no long tail, so the model is not systematically biased toward any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recommendation is tied explicitly back to a specific model finding — this traceability is exactly what the rubric's 'prediction &amp; business insight' component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be delivered candidly — the rubric explicitly rewards honest reflection over a high R². Do not skip past this section in the interest of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scope should read as a realistic next sprint, not a wishlist — each point connects to a limitation named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bottom-line sentence — it's the one takeaway you want the audience to remember if they forget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notebook and dashboard file open and ready to run a live what-if prediction if asked during Q&amp;A, per the presentation-day logistics in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5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EC5F4"/>
                </a:solidFill>
                <a:latin typeface="Calibri"/>
              </a:rPr>
              <a:t>MANAGERIAL DECISION MAKING · GROUP TERM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Predicting Retail Sales from Multiple Business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3C2B7"/>
                </a:solidFill>
                <a:latin typeface="Calibri"/>
              </a:rPr>
              <a:t>FreshMart Retail — a multiple linear regression case study with a BI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3C2B7"/>
                </a:solidFill>
                <a:latin typeface="Calibri"/>
              </a:rPr>
              <a:t>Team: [add group member names]  ·  Course &amp; Section: [add course/section]  ·  Date: [presentation 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EC5F4"/>
                </a:solidFill>
                <a:latin typeface="Calibri"/>
              </a:rPr>
              <a:t>Headline finding: location and stockouts move sales more than any single ad channel.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Business 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decision: </a:t>
            </a:r>
            <a:r>
              <a:rPr sz="1700">
                <a:solidFill>
                  <a:srgbClr val="52514E"/>
                </a:solidFill>
                <a:latin typeface="Calibri"/>
              </a:rPr>
              <a:t>FreshMart's marketing and operations teams disagree on where the next rupee of budget should go — more digital advertising, better in-stock availability, deeper discounts, or new-store features such as parking.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core question: </a:t>
            </a:r>
            <a:r>
              <a:rPr sz="1700">
                <a:solidFill>
                  <a:srgbClr val="52514E"/>
                </a:solidFill>
                <a:latin typeface="Calibri"/>
              </a:rPr>
              <a:t>which business factors most strongly explain a store's monthly sales revenue, and can we predict sales from store characteristics well enough to guide budget decisions?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Why it matters: </a:t>
            </a:r>
            <a:r>
              <a:rPr sz="1700">
                <a:solidFill>
                  <a:srgbClr val="52514E"/>
                </a:solidFill>
                <a:latin typeface="Calibri"/>
              </a:rPr>
              <a:t>FreshMart operates stores across metro, urban and suburban catchments with materially different economics — an evidence-based answer prevents budget from being allocated by intuition or department politics.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What success looks like: </a:t>
            </a:r>
            <a:r>
              <a:rPr sz="1700">
                <a:solidFill>
                  <a:srgbClr val="52514E"/>
                </a:solidFill>
                <a:latin typeface="Calibri"/>
              </a:rPr>
              <a:t>a regression model that identifies statistically significant drivers, quantifies their effect size, and supports a concrete ‘what-if’ budget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>
                <a:solidFill>
                  <a:srgbClr val="0B0B0B"/>
                </a:solidFill>
                <a:latin typeface="Calibri"/>
              </a:rPr>
              <a:t>Frame the business question as a prediction problem with one dependent variable (Monthly_Sales_K) and several independent business drivers.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>
                <a:solidFill>
                  <a:srgbClr val="0B0B0B"/>
                </a:solidFill>
                <a:latin typeface="Calibri"/>
              </a:rPr>
              <a:t>Explore relationships visually and numerically before modelling — scatter plots, correlation, summary statistics.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>
                <a:solidFill>
                  <a:srgbClr val="0B0B0B"/>
                </a:solidFill>
                <a:latin typeface="Calibri"/>
              </a:rPr>
              <a:t>Prepare the data correctly: encode categories, exclude identifiers, split into train/test sets, with every assumption stated explicitly.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>
                <a:solidFill>
                  <a:srgbClr val="0B0B0B"/>
                </a:solidFill>
                <a:latin typeface="Calibri"/>
              </a:rPr>
              <a:t>Fit and interpret a multiple linear regression using scikit-learn and statsmodels OLS, including significance testing.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>
                <a:solidFill>
                  <a:srgbClr val="0B0B0B"/>
                </a:solidFill>
                <a:latin typeface="Calibri"/>
              </a:rPr>
              <a:t>Communicate findings through an interactive BI dashboard and a structured group presentation.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>
                <a:solidFill>
                  <a:srgbClr val="0B0B0B"/>
                </a:solidFill>
                <a:latin typeface="Calibri"/>
              </a:rPr>
              <a:t>Generate a prediction for a realistic what-if scenario, recommend an action, and state the model's limits honestly.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2514E"/>
                </a:solidFill>
                <a:latin typeface="Calibri"/>
              </a:rPr>
              <a:t>Unit of observation: one store in one month (a “store-month”). Source: simulated business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51760" cy="118872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A78D6"/>
                </a:solidFill>
                <a:latin typeface="Calibri"/>
              </a:rP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Store-months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737360"/>
            <a:ext cx="2651760" cy="118872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A78D6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146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Predictors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2651760" cy="118872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Target variable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737360"/>
            <a:ext cx="2651760" cy="118872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8288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A78D6"/>
                </a:solidFill>
                <a:latin typeface="Calibri"/>
              </a:rPr>
              <a:t>Rs '000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2514E"/>
                </a:solidFill>
                <a:latin typeface="Calibri"/>
              </a:rPr>
              <a:t>Sales 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Target — Monthly_Sales_K: </a:t>
            </a:r>
            <a:r>
              <a:rPr sz="1500">
                <a:solidFill>
                  <a:srgbClr val="52514E"/>
                </a:solidFill>
                <a:latin typeface="Calibri"/>
              </a:rPr>
              <a:t>monthly sales revenue per store (Rs '000).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Key drivers used: </a:t>
            </a:r>
            <a:r>
              <a:rPr sz="1500">
                <a:solidFill>
                  <a:srgbClr val="52514E"/>
                </a:solidFill>
                <a:latin typeface="Calibri"/>
              </a:rPr>
              <a:t>Location_Type (Metro/Urban/Suburban), Is_Festival_Month, Parking_Available, TV/Digital/Radio/Print Ad Spend, Stockout_Rate_pct.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Assumption stated explicitly: </a:t>
            </a:r>
            <a:r>
              <a:rPr sz="1500">
                <a:solidFill>
                  <a:srgbClr val="52514E"/>
                </a:solidFill>
                <a:latin typeface="Calibri"/>
              </a:rPr>
              <a:t>the data file available for this run carried 8 of the 20 predictors documented in the original project data dictionary (store-size, footfall, customer rating, loyalty members, etc. were not present). All 8 available drivers were used; the missing ones are treated as omitted variables in the reflection (Slide 13).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Data Cleaning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Missing values: </a:t>
            </a:r>
            <a:r>
              <a:rPr sz="1550">
                <a:solidFill>
                  <a:srgbClr val="52514E"/>
                </a:solidFill>
                <a:latin typeface="Calibri"/>
              </a:rPr>
              <a:t>none found across all 300 rows (verified programmatically; numeric/categorical imputation logic is included in the code as a safeguard even though not needed here).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Duplicates: </a:t>
            </a:r>
            <a:r>
              <a:rPr sz="1550">
                <a:solidFill>
                  <a:srgbClr val="52514E"/>
                </a:solidFill>
                <a:latin typeface="Calibri"/>
              </a:rPr>
              <a:t>0 duplicate store-months (checked on all columns excluding Store_ID/Month).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Outlier scan: </a:t>
            </a:r>
            <a:r>
              <a:rPr sz="1550">
                <a:solidFill>
                  <a:srgbClr val="52514E"/>
                </a:solidFill>
                <a:latin typeface="Calibri"/>
              </a:rPr>
              <a:t>IQR rule flagged 2 high-spend stores as statistical outliers; both were retained (report-only) — a 300-row simulated business dataset can contain genuinely large stores, and residual diagnostics were used instead of ad hoc deletion.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Identifiers excluded: </a:t>
            </a:r>
            <a:r>
              <a:rPr sz="1550">
                <a:solidFill>
                  <a:srgbClr val="52514E"/>
                </a:solidFill>
                <a:latin typeface="Calibri"/>
              </a:rPr>
              <a:t>Store_ID and Month dropped — no predictive content.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Categorical encoding: </a:t>
            </a:r>
            <a:r>
              <a:rPr sz="1550">
                <a:solidFill>
                  <a:srgbClr val="52514E"/>
                </a:solidFill>
                <a:latin typeface="Calibri"/>
              </a:rPr>
              <a:t>Location_Type one-hot encoded, dropping one level (Metro) to avoid the dummy-variable trap.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Train/test split: </a:t>
            </a:r>
            <a:r>
              <a:rPr sz="1550">
                <a:solidFill>
                  <a:srgbClr val="52514E"/>
                </a:solidFill>
                <a:latin typeface="Calibri"/>
              </a:rPr>
              <a:t>75% / 25% (225 / 75 rows), random_state = 42 for full reproducibility.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>
                <a:solidFill>
                  <a:srgbClr val="0B0B0B"/>
                </a:solidFill>
                <a:latin typeface="Calibri"/>
              </a:rPr>
              <a:t>Scaling: </a:t>
            </a:r>
            <a:r>
              <a:rPr sz="1550">
                <a:solidFill>
                  <a:srgbClr val="52514E"/>
                </a:solidFill>
                <a:latin typeface="Calibri"/>
              </a:rPr>
              <a:t>not applied to the reported model — raw-unit coefficients stay directly interpretable in Rs '000; a separately standardized version is used only to rank driver importance (Slide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pic>
        <p:nvPicPr>
          <p:cNvPr id="5" name="Picture 4" descr="01_scatter_drivers_vs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019"/>
            <a:ext cx="11247120" cy="2530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1605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Digital &amp; TV ad spend: </a:t>
            </a:r>
            <a:r>
              <a:rPr sz="1450">
                <a:solidFill>
                  <a:srgbClr val="52514E"/>
                </a:solidFill>
                <a:latin typeface="Calibri"/>
              </a:rPr>
              <a:t>strong positive relationships with sales (r = 0.78 and r = 0.80) — the steepest, tightest scatter patterns of the four drivers shown.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Radio spend: </a:t>
            </a:r>
            <a:r>
              <a:rPr sz="1450">
                <a:solidFill>
                  <a:srgbClr val="52514E"/>
                </a:solidFill>
                <a:latin typeface="Calibri"/>
              </a:rPr>
              <a:t>also strongly positive (r = 0.69), moving in step with TV/Digital.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Stockout rate: </a:t>
            </a:r>
            <a:r>
              <a:rPr sz="1450">
                <a:solidFill>
                  <a:srgbClr val="52514E"/>
                </a:solidFill>
                <a:latin typeface="Calibri"/>
              </a:rPr>
              <a:t>weak negative relationship in isolation (r = -0.20) — its true effect turns out to be much clearer once other drivers are controlled for in the regression (Slide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Important Visualizations</a:t>
            </a:r>
          </a:p>
        </p:txBody>
      </p:sp>
      <p:pic>
        <p:nvPicPr>
          <p:cNvPr id="5" name="Picture 4" descr="0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486400" cy="4114800"/>
          </a:xfrm>
          <a:prstGeom prst="rect">
            <a:avLst/>
          </a:prstGeom>
        </p:spPr>
      </p:pic>
      <p:pic>
        <p:nvPicPr>
          <p:cNvPr id="6" name="Picture 5" descr="03_location_and_fest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86742"/>
            <a:ext cx="5486400" cy="22444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8920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2514E"/>
                </a:solidFill>
                <a:latin typeface="Calibri"/>
              </a:rPr>
              <a:t>Metro &gt; Urban &gt; Suburban at every filter combination; festival months show a visibly higher median and a wider upper spread.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Dashboard Overview</a:t>
            </a:r>
          </a:p>
        </p:txBody>
      </p:sp>
      <p:pic>
        <p:nvPicPr>
          <p:cNvPr id="5" name="Picture 4" descr="dashboar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655" y="1097280"/>
            <a:ext cx="5264209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578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2A78D6"/>
                </a:solidFill>
                <a:latin typeface="Calibri"/>
              </a:rPr>
              <a:t>•  </a:t>
            </a:r>
            <a:r>
              <a:rPr sz="1350">
                <a:solidFill>
                  <a:srgbClr val="0B0B0B"/>
                </a:solidFill>
                <a:latin typeface="Calibri"/>
              </a:rPr>
              <a:t>10 required items: KPI cards, location &amp; festival comparisons, 2 driver scatter+trend charts, correlation heatmap, driver-importance tornado, predicted-vs-actual, residual histogram, ad-channel mix.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2A78D6"/>
                </a:solidFill>
                <a:latin typeface="Calibri"/>
              </a:rPr>
              <a:t>•  </a:t>
            </a:r>
            <a:r>
              <a:rPr sz="1350">
                <a:solidFill>
                  <a:srgbClr val="0B0B0B"/>
                </a:solidFill>
                <a:latin typeface="Calibri"/>
              </a:rPr>
              <a:t>3 working filters (Location, Festival month, Parking) plus a live what-if Digital Ad Spend slider, with one-click drill-down from the location bar chart.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Location is the single biggest lever: </a:t>
            </a:r>
            <a:r>
              <a:rPr sz="1600">
                <a:solidFill>
                  <a:srgbClr val="52514E"/>
                </a:solidFill>
                <a:latin typeface="Calibri"/>
              </a:rPr>
              <a:t>Metro stores out-sell Suburban stores by ~Rs 750K/month in the model — larger than any realistic marketing reallocation could close.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TV &amp; Radio carry the ad-budget signal, not Digital: </a:t>
            </a:r>
            <a:r>
              <a:rPr sz="1600">
                <a:solidFill>
                  <a:srgbClr val="52514E"/>
                </a:solidFill>
                <a:latin typeface="Calibri"/>
              </a:rPr>
              <a:t>Digital's strong raw correlation (r ≈ 0.78) becomes statistically insignificant (p = 0.93) once TV and Radio are in the model — they're highly collinear (VIF ≈ 4.5), so the model cannot cleanly separate their individual effects.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Stockouts are a quantifiable, controllable revenue leak: </a:t>
            </a:r>
            <a:r>
              <a:rPr sz="1600">
                <a:solidFill>
                  <a:srgbClr val="52514E"/>
                </a:solidFill>
                <a:latin typeface="Calibri"/>
              </a:rPr>
              <a:t>each 1-point rise in stockout rate costs ~Rs 11K/month per store (p &lt; 0.001) — and it's a lever operations owns directly.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Festival months add a reliable, budget-independent uplift: </a:t>
            </a:r>
            <a:r>
              <a:rPr sz="1600">
                <a:solidFill>
                  <a:srgbClr val="52514E"/>
                </a:solidFill>
                <a:latin typeface="Calibri"/>
              </a:rPr>
              <a:t>~Rs 90K on average, useful for inventory and staffing planning regardless of that month's ad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Statistical Findings — Coefficient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7863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37160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Coefficient (Rs K)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Significant (5%)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Is_Festival_Month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+90.75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Parking_Available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+35.65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Radio_Ad_Spend_K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+7.95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0.019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TV_Ad_Spend_K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+6.40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Digital_Ad_Spend_K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+0.16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Print_Ad_Spend_K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Stockout_Rate_pct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-11.16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Location_Type_Urban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-383.47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Location_Type_Suburban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-753.63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B0B0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32520" y="13716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Calibri"/>
              </a:rPr>
              <a:t>•  </a:t>
            </a:r>
            <a:r>
              <a:rPr sz="1250">
                <a:solidFill>
                  <a:srgbClr val="0B0B0B"/>
                </a:solidFill>
                <a:latin typeface="Calibri"/>
              </a:rPr>
              <a:t>Reference level: Metro (dropped in one-hot encoding).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Calibri"/>
              </a:rPr>
              <a:t>•  </a:t>
            </a:r>
            <a:r>
              <a:rPr sz="1250">
                <a:solidFill>
                  <a:srgbClr val="0B0B0B"/>
                </a:solidFill>
                <a:latin typeface="Calibri"/>
              </a:rPr>
              <a:t>Interpretation: each coefficient is the effect of a 1-unit change, holding all other drivers constant.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A78D6"/>
                </a:solidFill>
                <a:latin typeface="Calibri"/>
              </a:rPr>
              <a:t>•  </a:t>
            </a:r>
            <a:r>
              <a:rPr sz="1250">
                <a:solidFill>
                  <a:srgbClr val="0B0B0B"/>
                </a:solidFill>
                <a:latin typeface="Calibri"/>
              </a:rPr>
              <a:t>Location and stockout rate are the strongest, most significant effects in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Model Results &amp; Fit</a:t>
            </a:r>
          </a:p>
        </p:txBody>
      </p:sp>
      <p:pic>
        <p:nvPicPr>
          <p:cNvPr id="5" name="Picture 4" descr="04_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3931920" cy="3931920"/>
          </a:xfrm>
          <a:prstGeom prst="rect">
            <a:avLst/>
          </a:prstGeom>
        </p:spPr>
      </p:pic>
      <p:pic>
        <p:nvPicPr>
          <p:cNvPr id="6" name="Picture 5" descr="05_residu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143000"/>
            <a:ext cx="524256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257800"/>
            <a:ext cx="2651760" cy="9144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0.827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2514E"/>
                </a:solidFill>
                <a:latin typeface="Calibri"/>
              </a:rPr>
              <a:t>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5257800"/>
            <a:ext cx="2651760" cy="9144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53035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0.803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7607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2514E"/>
                </a:solidFill>
                <a:latin typeface="Calibri"/>
              </a:rPr>
              <a:t>Adj. 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257800"/>
            <a:ext cx="2651760" cy="9144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3035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Rs 173K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7607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2514E"/>
                </a:solidFill>
                <a:latin typeface="Calibri"/>
              </a:rPr>
              <a:t>RMSE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5257800"/>
            <a:ext cx="2651760" cy="9144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53035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A78D6"/>
                </a:solidFill>
                <a:latin typeface="Calibri"/>
              </a:rPr>
              <a:t>Rs 122K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7607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2514E"/>
                </a:solidFill>
                <a:latin typeface="Calibri"/>
              </a:rPr>
              <a:t>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1. Rebalance ad budget from Digital toward TV/Radio </a:t>
            </a:r>
            <a:r>
              <a:rPr sz="1650">
                <a:solidFill>
                  <a:srgbClr val="52514E"/>
                </a:solidFill>
                <a:latin typeface="Calibri"/>
              </a:rPr>
              <a:t>for digital-heavy stores, pending a controlled test — Digital's apparent lift likely rides on overall marketing budget size, not its own channel effect.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2. Fund stockout reduction before further ad-spend increases. </a:t>
            </a:r>
            <a:r>
              <a:rPr sz="1650">
                <a:solidFill>
                  <a:srgbClr val="52514E"/>
                </a:solidFill>
                <a:latin typeface="Calibri"/>
              </a:rPr>
              <a:t>Cutting stockout rate from ~15% to ~5% is worth an estimated ~Rs 112K/month per store — often cheaper than an equivalent lift from ads.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3. Prioritize new-store investment in Metro/Urban catchments </a:t>
            </a:r>
            <a:r>
              <a:rPr sz="1650">
                <a:solidFill>
                  <a:srgbClr val="52514E"/>
                </a:solidFill>
                <a:latin typeface="Calibri"/>
              </a:rPr>
              <a:t>over Suburban at parity spend — the location effect compounds with every other driver in the model.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4. Plan inventory &amp; staffing around festival months </a:t>
            </a:r>
            <a:r>
              <a:rPr sz="1650">
                <a:solidFill>
                  <a:srgbClr val="52514E"/>
                </a:solidFill>
                <a:latin typeface="Calibri"/>
              </a:rPr>
              <a:t>using the ~Rs 90K predictable uplift as a baseline, independent of that month's ad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Limitations &amp;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Multicollinearity: </a:t>
            </a:r>
            <a:r>
              <a:rPr sz="1500">
                <a:solidFill>
                  <a:srgbClr val="52514E"/>
                </a:solidFill>
                <a:latin typeface="Calibri"/>
              </a:rPr>
              <a:t>TV and Digital ad spend move together (VIF ≈ 4.5) — likely because stores with bigger overall marketing budgets buy more of both, which inflates standard errors and makes their individual coefficients less trustworthy even though overall model fit stays valid.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Omitted variables: </a:t>
            </a:r>
            <a:r>
              <a:rPr sz="1500">
                <a:solidFill>
                  <a:srgbClr val="52514E"/>
                </a:solidFill>
                <a:latin typeface="Calibri"/>
              </a:rPr>
              <a:t>only 8 of the 20 documented predictors were available in this run's data file (store size, SKU count, footfall, customer rating, loyalty members, discount %, competitor distance, population density, household income, staff count, store age, and manager tenure were not supplied) — the reported R² should be read as a lower bound on what a full 20-predictor model would achieve.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Correlation vs causation: </a:t>
            </a:r>
            <a:r>
              <a:rPr sz="1500">
                <a:solidFill>
                  <a:srgbClr val="52514E"/>
                </a:solidFill>
                <a:latin typeface="Calibri"/>
              </a:rPr>
              <a:t>a positive ad-spend coefficient shows association, not proof that raising spend causes sales to rise — head office may simply allocate bigger budgets to stores it already expects to perform well. A/B testing would be needed for a causal claim.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>
                <a:solidFill>
                  <a:srgbClr val="0B0B0B"/>
                </a:solidFill>
                <a:latin typeface="Calibri"/>
              </a:rPr>
              <a:t>What more data would help: </a:t>
            </a:r>
            <a:r>
              <a:rPr sz="1500">
                <a:solidFill>
                  <a:srgbClr val="52514E"/>
                </a:solidFill>
                <a:latin typeface="Calibri"/>
              </a:rPr>
              <a:t>store-level footfall/SKU-availability detail, a longer time series per store (for store fixed effects), and a randomized ad-spend design to separate causal lift from allocation bias.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>
                <a:solidFill>
                  <a:srgbClr val="0B0B0B"/>
                </a:solidFill>
                <a:latin typeface="Calibri"/>
              </a:rPr>
              <a:t>Obtain the full 20-predictor dataset (store size, footfall, customer rating, loyalty, discount %, competitor distance, demographics, staffing, tenure) to close the omitted-variable gap.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>
                <a:solidFill>
                  <a:srgbClr val="0B0B0B"/>
                </a:solidFill>
                <a:latin typeface="Calibri"/>
              </a:rPr>
              <a:t>Run a randomized or quasi-experimental ad-spend test across comparable stores to separate a channel's true causal lift from budget-allocation bias.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>
                <a:solidFill>
                  <a:srgbClr val="0B0B0B"/>
                </a:solidFill>
                <a:latin typeface="Calibri"/>
              </a:rPr>
              <a:t>Extend to a panel/time-series model with store fixed effects, to control for unobserved, time-invariant store quality.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>
                <a:solidFill>
                  <a:srgbClr val="0B0B0B"/>
                </a:solidFill>
                <a:latin typeface="Calibri"/>
              </a:rPr>
              <a:t>Rebuild the dashboard natively in Tableau or Power BI Desktop for organizations that standardize on those tools (field-by-field guide included in the submission's Dashboard folder).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>
                <a:solidFill>
                  <a:srgbClr val="0B0B0B"/>
                </a:solidFill>
                <a:latin typeface="Calibri"/>
              </a:rPr>
              <a:t>Explore regularized regression (Ridge/Lasso) or tree-based models as a robustness check against the linear specification, especially given the multicollinearity identified above.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EC5F4"/>
                </a:solidFill>
                <a:latin typeface="Calibri"/>
              </a:rP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model works: </a:t>
            </a:r>
            <a:r>
              <a:rPr sz="1700">
                <a:solidFill>
                  <a:srgbClr val="52514E"/>
                </a:solidFill>
                <a:latin typeface="Calibri"/>
              </a:rPr>
              <a:t>a multiple linear regression on 8 business drivers explains 83% of test-set variance in monthly sales (RMSE ≈ 12% of average sales) — good enough to guide budget decisions.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headline answer to FreshMart's question: </a:t>
            </a:r>
            <a:r>
              <a:rPr sz="1700">
                <a:solidFill>
                  <a:srgbClr val="52514E"/>
                </a:solidFill>
                <a:latin typeface="Calibri"/>
              </a:rPr>
              <a:t>location and operational execution (stockout rate) explain more of the sales gap between stores than any single advertising channel does.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0B0B0B"/>
                </a:solidFill>
                <a:latin typeface="Calibri"/>
              </a:rPr>
              <a:t>The honest caveat: </a:t>
            </a:r>
            <a:r>
              <a:rPr sz="1700">
                <a:solidFill>
                  <a:srgbClr val="52514E"/>
                </a:solidFill>
                <a:latin typeface="Calibri"/>
              </a:rPr>
              <a:t>Digital ad spend's apparent effect is largely a multicollinearity artifact, not a proven independent driver — treat any digital-budget decision as a hypothesis to test, not a conclusion to act on blindly.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Bottom line: fix stockouts and lean into Metro/Urban growth before chasing more digital ad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FreshMart Retail — Managerial Decision Making Term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2514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9EC5F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C3C2B7"/>
                </a:solidFill>
                <a:latin typeface="Calibri"/>
              </a:rPr>
              <a:t>Backup slides available on request: full coefficient table (Slide 10 appendix), VIF multicollinearity table, additional dashboard views, and the what-if scenario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